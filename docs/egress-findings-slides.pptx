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00">
                <a:solidFill>
                  <a:srgbClr val="7C8797"/>
                </a:solidFill>
                <a:latin typeface="Consolas"/>
              </a:rPr>
              <a:t>Tiled egress  ·  SYNTHETIC_BENCHMARK  ·  lcls-data-portal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13232"/>
            <a:ext cx="11057839" cy="12700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896112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12181F"/>
                </a:solidFill>
                <a:latin typeface="Georgia"/>
              </a:rPr>
              <a:t>Egress rate is limited by server-side</a:t>
            </a:r>
          </a:p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12181F"/>
                </a:solidFill>
                <a:latin typeface="Georgia"/>
              </a:rPr>
              <a:t>work, not bandwidth.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48840"/>
            <a:ext cx="8778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4A5563"/>
                </a:solidFill>
                <a:latin typeface="Calibri"/>
              </a:rPr>
              <a:t>Bulk-exporting 100 entities over HTTPS takes </a:t>
            </a:r>
            <a:r>
              <a:rPr sz="1800" b="1" i="0">
                <a:solidFill>
                  <a:srgbClr val="12181F"/>
                </a:solidFill>
                <a:latin typeface="Calibri"/>
              </a:rPr>
              <a:t>22.03 s</a:t>
            </a:r>
            <a:r>
              <a:rPr sz="1800" b="0" i="0">
                <a:solidFill>
                  <a:srgbClr val="4A5563"/>
                </a:solidFill>
                <a:latin typeface="Calibri"/>
              </a:rPr>
              <a:t>. The server accounts for </a:t>
            </a:r>
            <a:r>
              <a:rPr sz="1800" b="1" i="0">
                <a:solidFill>
                  <a:srgbClr val="12181F"/>
                </a:solidFill>
                <a:latin typeface="Calibri"/>
              </a:rPr>
              <a:t>20.39 s</a:t>
            </a:r>
            <a:r>
              <a:rPr sz="1800" b="0" i="0">
                <a:solidFill>
                  <a:srgbClr val="4A5563"/>
                </a:solidFill>
                <a:latin typeface="Calibri"/>
              </a:rPr>
              <a:t> of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063240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4C72B0"/>
                </a:solidFill>
                <a:latin typeface="Consolas"/>
              </a:rPr>
              <a:t>92</a:t>
            </a:r>
            <a:r>
              <a:rPr sz="2200" b="0" i="0">
                <a:solidFill>
                  <a:srgbClr val="7C8797"/>
                </a:solidFill>
                <a:latin typeface="Consolas"/>
              </a:rPr>
              <a:t>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16052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spc="100">
                <a:solidFill>
                  <a:srgbClr val="7C8797"/>
                </a:solidFill>
                <a:latin typeface="Consolas"/>
              </a:rPr>
              <a:t>app · 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2874" y="3063240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DD8452"/>
                </a:solidFill>
                <a:latin typeface="Consolas"/>
              </a:rPr>
              <a:t>7</a:t>
            </a:r>
            <a:r>
              <a:rPr sz="2200" b="0" i="0">
                <a:solidFill>
                  <a:srgbClr val="7C8797"/>
                </a:solidFill>
                <a:latin typeface="Consolas"/>
              </a:rPr>
              <a:t>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2874" y="416052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spc="100">
                <a:solidFill>
                  <a:srgbClr val="7C8797"/>
                </a:solidFill>
                <a:latin typeface="Consolas"/>
              </a:rPr>
              <a:t>net · wire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8820" y="3063240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55A868"/>
                </a:solidFill>
                <a:latin typeface="Consolas"/>
              </a:rPr>
              <a:t>0.3</a:t>
            </a:r>
            <a:r>
              <a:rPr sz="2200" b="0" i="0">
                <a:solidFill>
                  <a:srgbClr val="7C8797"/>
                </a:solidFill>
                <a:latin typeface="Consolas"/>
              </a:rPr>
              <a:t>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8820" y="416052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spc="100">
                <a:solidFill>
                  <a:srgbClr val="7C8797"/>
                </a:solidFill>
                <a:latin typeface="Consolas"/>
              </a:rPr>
              <a:t>decode · client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074920"/>
            <a:ext cx="10239558" cy="29260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06486" y="5074920"/>
            <a:ext cx="785106" cy="292608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591592" y="5074920"/>
            <a:ext cx="33173" cy="292608"/>
          </a:xfrm>
          <a:prstGeom prst="rect">
            <a:avLst/>
          </a:prstGeom>
          <a:solidFill>
            <a:srgbClr val="55A8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550468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4C72B0"/>
                </a:solidFill>
                <a:latin typeface="Consolas"/>
              </a:rPr>
              <a:t>■ app 20.39 s      </a:t>
            </a:r>
            <a:r>
              <a:rPr sz="1200" b="0" i="0">
                <a:solidFill>
                  <a:srgbClr val="DD8452"/>
                </a:solidFill>
                <a:latin typeface="Consolas"/>
              </a:rPr>
              <a:t>■ net 1.56 s      </a:t>
            </a:r>
            <a:r>
              <a:rPr sz="1200" b="0" i="0">
                <a:solidFill>
                  <a:srgbClr val="55A868"/>
                </a:solidFill>
                <a:latin typeface="Consolas"/>
              </a:rPr>
              <a:t>■ decode 0.07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50468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7C8797"/>
                </a:solidFill>
                <a:latin typeface="Consolas"/>
              </a:rPr>
              <a:t>measured via  Server-Timing: app;dur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00">
                <a:solidFill>
                  <a:srgbClr val="7C8797"/>
                </a:solidFill>
                <a:latin typeface="Consolas"/>
              </a:rPr>
              <a:t>§1  Batch sweep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13232"/>
            <a:ext cx="11057839" cy="12700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26319" y="329184"/>
            <a:ext cx="129844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0" i="0" spc="70">
                <a:solidFill>
                  <a:srgbClr val="55A868"/>
                </a:solidFill>
                <a:latin typeface="Consolas"/>
              </a:rPr>
              <a:t>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 i="0">
                <a:solidFill>
                  <a:srgbClr val="12181F"/>
                </a:solidFill>
                <a:latin typeface="Georgia"/>
              </a:rPr>
              <a:t>Bigger batches don't improve throughput.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4A5563"/>
                </a:solidFill>
                <a:latin typeface="Calibri"/>
              </a:rPr>
              <a:t>Cost is paid </a:t>
            </a:r>
            <a:r>
              <a:rPr sz="1700" b="1" i="0">
                <a:solidFill>
                  <a:srgbClr val="12181F"/>
                </a:solidFill>
                <a:latin typeface="Calibri"/>
              </a:rPr>
              <a:t>per node</a:t>
            </a:r>
            <a:r>
              <a:rPr sz="1700" b="0" i="0">
                <a:solidFill>
                  <a:srgbClr val="4A5563"/>
                </a:solidFill>
                <a:latin typeface="Calibri"/>
              </a:rPr>
              <a:t>, not per request. 100× the batch returns 18% more throughput.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121408"/>
            <a:ext cx="11057839" cy="457200"/>
          </a:xfrm>
          <a:prstGeom prst="rect">
            <a:avLst/>
          </a:prstGeom>
          <a:solidFill>
            <a:srgbClr val="F3F5F8"/>
          </a:solidFill>
          <a:ln w="9525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300" b="1" i="0">
                <a:solidFill>
                  <a:srgbClr val="2F5E9E"/>
                </a:solidFill>
                <a:latin typeface="Consolas"/>
              </a:rPr>
              <a:t>batch</a:t>
            </a:r>
            <a:r>
              <a:rPr sz="1300" b="0" i="0">
                <a:solidFill>
                  <a:srgbClr val="4A5563"/>
                </a:solidFill>
                <a:latin typeface="Calibri"/>
              </a:rPr>
              <a:t>  =  number of entities requested in one export call  </a:t>
            </a:r>
            <a:r>
              <a:rPr sz="1300" b="0" i="0">
                <a:solidFill>
                  <a:srgbClr val="7C8797"/>
                </a:solidFill>
                <a:latin typeface="Consolas"/>
              </a:rPr>
              <a:t>(fields = N keys, one HDF5 container returned).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761488"/>
          <a:ext cx="11057836" cy="2194560"/>
        </p:xfrm>
        <a:graphic>
          <a:graphicData uri="http://schemas.openxmlformats.org/drawingml/2006/table">
            <a:tbl>
              <a:tblPr firstRow="1" bandRow="1" a:firstRow="0">
                <a:tableStyleId>{2D5ABB26-0587-4C30-8999-92F81FD0307C}</a:tableStyleId>
              </a:tblPr>
              <a:tblGrid>
                <a:gridCol w="1228648"/>
                <a:gridCol w="1795717"/>
                <a:gridCol w="1512183"/>
                <a:gridCol w="1512183"/>
                <a:gridCol w="1606694"/>
                <a:gridCol w="1890228"/>
                <a:gridCol w="1512183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 i="0" spc="40">
                          <a:solidFill>
                            <a:srgbClr val="7C8797"/>
                          </a:solidFill>
                          <a:latin typeface="Consolas"/>
                        </a:rPr>
                        <a:t>Batch</a:t>
                      </a:r>
                    </a:p>
                  </a:txBody>
                  <a:tcPr marL="73152" marR="73152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 spc="40">
                          <a:solidFill>
                            <a:srgbClr val="7C8797"/>
                          </a:solidFill>
                          <a:latin typeface="Consolas"/>
                        </a:rPr>
                        <a:t>Wall p50</a:t>
                      </a:r>
                    </a:p>
                  </a:txBody>
                  <a:tcPr marL="73152" marR="73152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 spc="40">
                          <a:solidFill>
                            <a:srgbClr val="7C8797"/>
                          </a:solidFill>
                          <a:latin typeface="Consolas"/>
                        </a:rPr>
                        <a:t>app</a:t>
                      </a:r>
                    </a:p>
                  </a:txBody>
                  <a:tcPr marL="73152" marR="73152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 spc="40">
                          <a:solidFill>
                            <a:srgbClr val="7C8797"/>
                          </a:solidFill>
                          <a:latin typeface="Consolas"/>
                        </a:rPr>
                        <a:t>net</a:t>
                      </a:r>
                    </a:p>
                  </a:txBody>
                  <a:tcPr marL="73152" marR="73152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 spc="40">
                          <a:solidFill>
                            <a:srgbClr val="7C8797"/>
                          </a:solidFill>
                          <a:latin typeface="Consolas"/>
                        </a:rPr>
                        <a:t>decode</a:t>
                      </a:r>
                    </a:p>
                  </a:txBody>
                  <a:tcPr marL="73152" marR="73152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 spc="40">
                          <a:solidFill>
                            <a:srgbClr val="7C8797"/>
                          </a:solidFill>
                          <a:latin typeface="Consolas"/>
                        </a:rPr>
                        <a:t>s / entity</a:t>
                      </a:r>
                    </a:p>
                  </a:txBody>
                  <a:tcPr marL="73152" marR="73152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 spc="40">
                          <a:solidFill>
                            <a:srgbClr val="7C8797"/>
                          </a:solidFill>
                          <a:latin typeface="Consolas"/>
                        </a:rPr>
                        <a:t>ent/s</a:t>
                      </a:r>
                    </a:p>
                  </a:txBody>
                  <a:tcPr marL="73152" marR="73152" marT="18288" marB="18288" anchor="ctr"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0.26 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0.24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0.02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0.00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0.260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3.85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10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2.38 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2.19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0.18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0.01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0.238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4.20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4.35 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4.01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0.33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0.01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0.218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4.60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40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9.41 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8.54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0.84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0.03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0.235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4.25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80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17.63 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16.28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1.29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0.05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0.220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4.54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100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22.03 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20.39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1.56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0.07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0.220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2181F"/>
                          </a:solidFill>
                          <a:latin typeface="Consolas"/>
                        </a:rPr>
                        <a:t>4.54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 gridSpan="7"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B4552D"/>
                          </a:solidFill>
                          <a:latin typeface="Consolas"/>
                        </a:rPr>
                        <a:t>200      aborted: 236.9 s over the 200 s cap</a:t>
                      </a:r>
                    </a:p>
                  </a:txBody>
                  <a:tcPr marL="73152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66928" y="5138928"/>
            <a:ext cx="5391759" cy="1234440"/>
          </a:xfrm>
          <a:prstGeom prst="rect">
            <a:avLst/>
          </a:prstGeom>
          <a:solidFill>
            <a:srgbClr val="F3F5F8"/>
          </a:solidFill>
          <a:ln w="9525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276088"/>
            <a:ext cx="5062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 spc="60">
                <a:solidFill>
                  <a:srgbClr val="7C8797"/>
                </a:solidFill>
                <a:latin typeface="Consolas"/>
              </a:rPr>
              <a:t>CEILINGS HIT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14416"/>
            <a:ext cx="50625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181F"/>
                </a:solidFill>
                <a:latin typeface="Consolas"/>
              </a:rPr>
              <a:t>414</a:t>
            </a:r>
            <a:r>
              <a:rPr sz="1300" b="0" i="0">
                <a:solidFill>
                  <a:srgbClr val="4A5563"/>
                </a:solidFill>
                <a:latin typeface="Calibri"/>
              </a:rPr>
              <a:t>: URI limit past ~220 keys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181F"/>
                </a:solidFill>
                <a:latin typeface="Consolas"/>
              </a:rPr>
              <a:t>504</a:t>
            </a:r>
            <a:r>
              <a:rPr sz="1300" b="0" i="0">
                <a:solidFill>
                  <a:srgbClr val="4A5563"/>
                </a:solidFill>
                <a:latin typeface="Calibri"/>
              </a:rPr>
              <a:t>: ~53 s of server work per request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5138928"/>
            <a:ext cx="5391759" cy="1234440"/>
          </a:xfrm>
          <a:prstGeom prst="rect">
            <a:avLst/>
          </a:prstGeom>
          <a:solidFill>
            <a:srgbClr val="F3F5F8"/>
          </a:solidFill>
          <a:ln w="9525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5276088"/>
            <a:ext cx="5062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 spc="60">
                <a:solidFill>
                  <a:srgbClr val="7C8797"/>
                </a:solidFill>
                <a:latin typeface="Consolas"/>
              </a:rPr>
              <a:t>RULED 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5614416"/>
            <a:ext cx="50625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181F"/>
                </a:solidFill>
                <a:latin typeface="Consolas"/>
              </a:rPr>
              <a:t>Client</a:t>
            </a:r>
            <a:r>
              <a:rPr sz="1300" b="0" i="0">
                <a:solidFill>
                  <a:srgbClr val="4A5563"/>
                </a:solidFill>
                <a:latin typeface="Calibri"/>
              </a:rPr>
              <a:t>: decode ≤ 0.3% of wall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181F"/>
                </a:solidFill>
                <a:latin typeface="Consolas"/>
              </a:rPr>
              <a:t>Network</a:t>
            </a:r>
            <a:r>
              <a:rPr sz="1300" b="0" i="0">
                <a:solidFill>
                  <a:srgbClr val="4A5563"/>
                </a:solidFill>
                <a:latin typeface="Calibri"/>
              </a:rPr>
              <a:t>: net a flat 7% sliver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00">
                <a:solidFill>
                  <a:srgbClr val="7C8797"/>
                </a:solidFill>
                <a:latin typeface="Consolas"/>
              </a:rPr>
              <a:t>§1b  Request type  ·  40 entities, two 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13232"/>
            <a:ext cx="11057839" cy="12700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26319" y="329184"/>
            <a:ext cx="129844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0" i="0" spc="70">
                <a:solidFill>
                  <a:srgbClr val="55A868"/>
                </a:solidFill>
                <a:latin typeface="Consolas"/>
              </a:rPr>
              <a:t>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>
                <a:solidFill>
                  <a:srgbClr val="12181F"/>
                </a:solidFill>
                <a:latin typeface="Georgia"/>
              </a:rPr>
              <a:t>Reading an array is ~2× faster than exporting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4A5563"/>
                </a:solidFill>
                <a:latin typeface="Calibri"/>
              </a:rPr>
              <a:t>Time to fetch 40 entities. </a:t>
            </a:r>
            <a:r>
              <a:rPr sz="1700" b="1" i="0">
                <a:solidFill>
                  <a:srgbClr val="12181F"/>
                </a:solidFill>
                <a:latin typeface="Calibri"/>
              </a:rPr>
              <a:t>Shorter bar = faster.</a:t>
            </a:r>
            <a:r>
              <a:rPr sz="1700" b="0" i="0">
                <a:solidFill>
                  <a:srgbClr val="4A5563"/>
                </a:solidFill>
                <a:latin typeface="Calibri"/>
              </a:rPr>
              <a:t>  Export re-encodes an HDF5 container; the array read ships a raw buffer.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7802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A5563"/>
                </a:solidFill>
                <a:latin typeface="Consolas"/>
              </a:rPr>
              <a:t>HDF5 export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2331720"/>
            <a:ext cx="6756318" cy="56692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200" b="1" i="0">
                <a:solidFill>
                  <a:srgbClr val="FFFFFF"/>
                </a:solidFill>
                <a:latin typeface="Consolas"/>
              </a:rPr>
              <a:t>188.6</a:t>
            </a:r>
          </a:p>
        </p:txBody>
      </p:sp>
      <p:sp>
        <p:nvSpPr>
          <p:cNvPr id="9" name="Rectangle 8"/>
          <p:cNvSpPr/>
          <p:nvPr/>
        </p:nvSpPr>
        <p:spPr>
          <a:xfrm>
            <a:off x="8722278" y="2331720"/>
            <a:ext cx="537667" cy="566928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59945" y="2331720"/>
            <a:ext cx="21214" cy="566928"/>
          </a:xfrm>
          <a:prstGeom prst="rect">
            <a:avLst/>
          </a:prstGeom>
          <a:solidFill>
            <a:srgbClr val="55A8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90887" y="247802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C8797"/>
                </a:solidFill>
                <a:latin typeface="Consolas"/>
              </a:rPr>
              <a:t>204.2 ms/ent</a:t>
            </a:r>
            <a:r>
              <a:rPr sz="1300" b="1" i="0">
                <a:solidFill>
                  <a:srgbClr val="55A868"/>
                </a:solidFill>
                <a:latin typeface="Consola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34670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A5563"/>
                </a:solidFill>
                <a:latin typeface="Consolas"/>
              </a:rPr>
              <a:t>Raw array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65960" y="3200400"/>
            <a:ext cx="3675635" cy="56692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200" b="1" i="0">
                <a:solidFill>
                  <a:srgbClr val="FFFFFF"/>
                </a:solidFill>
                <a:latin typeface="Consolas"/>
              </a:rPr>
              <a:t>102.6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41595" y="3200400"/>
            <a:ext cx="426178" cy="566928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7501" y="334670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5A868"/>
                </a:solidFill>
                <a:latin typeface="Consolas"/>
              </a:rPr>
              <a:t>114.5 ms/ent</a:t>
            </a:r>
            <a:r>
              <a:rPr sz="1300" b="1" i="0">
                <a:solidFill>
                  <a:srgbClr val="55A868"/>
                </a:solidFill>
                <a:latin typeface="Consolas"/>
              </a:rPr>
              <a:t>   ← faster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977639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4C72B0"/>
                </a:solidFill>
                <a:latin typeface="Consolas"/>
              </a:rPr>
              <a:t>■ app (server)     </a:t>
            </a:r>
            <a:r>
              <a:rPr sz="1200" b="0" i="0">
                <a:solidFill>
                  <a:srgbClr val="DD8452"/>
                </a:solidFill>
                <a:latin typeface="Consolas"/>
              </a:rPr>
              <a:t>■ net     </a:t>
            </a:r>
            <a:r>
              <a:rPr sz="1200" b="0" i="0">
                <a:solidFill>
                  <a:srgbClr val="55A868"/>
                </a:solidFill>
                <a:latin typeface="Consolas"/>
              </a:rPr>
              <a:t>■ decode (client)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526280"/>
            <a:ext cx="11057839" cy="1737360"/>
          </a:xfrm>
          <a:prstGeom prst="rect">
            <a:avLst/>
          </a:prstGeom>
          <a:solidFill>
            <a:srgbClr val="F3F5F8"/>
          </a:solidFill>
          <a:ln w="9525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4690872"/>
            <a:ext cx="1065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 spc="50">
                <a:solidFill>
                  <a:srgbClr val="B4552D"/>
                </a:solidFill>
                <a:latin typeface="Consolas"/>
              </a:rPr>
              <a:t>CAVEAT — NOT YET A CLEAN SINGLE-ARTIFACT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074920"/>
            <a:ext cx="106555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2181F"/>
                </a:solidFill>
                <a:latin typeface="Consolas"/>
              </a:rPr>
              <a:t>fields=</a:t>
            </a:r>
            <a:r>
              <a:rPr sz="1500" b="0" i="0">
                <a:solidFill>
                  <a:srgbClr val="4A5563"/>
                </a:solidFill>
                <a:latin typeface="Calibri"/>
              </a:rPr>
              <a:t> selects entities, not artifacts. The export shipped </a:t>
            </a:r>
            <a:r>
              <a:rPr sz="1500" b="0" i="1">
                <a:solidFill>
                  <a:srgbClr val="12181F"/>
                </a:solidFill>
                <a:latin typeface="Calibri"/>
              </a:rPr>
              <a:t>every</a:t>
            </a:r>
            <a:r>
              <a:rPr sz="1500" b="0" i="0">
                <a:solidFill>
                  <a:srgbClr val="4A5563"/>
                </a:solidFill>
                <a:latin typeface="Calibri"/>
              </a:rPr>
              <a:t> artifact of each entity, while the array read fetched </a:t>
            </a:r>
            <a:r>
              <a:rPr sz="1500" b="0" i="1">
                <a:solidFill>
                  <a:srgbClr val="12181F"/>
                </a:solidFill>
                <a:latin typeface="Calibri"/>
              </a:rPr>
              <a:t>one</a:t>
            </a:r>
            <a:r>
              <a:rPr sz="1500" b="0" i="0">
                <a:solidFill>
                  <a:srgbClr val="4A5563"/>
                </a:solidFill>
                <a:latin typeface="Calibri"/>
              </a:rPr>
              <a:t>. So this compares “get the data for 40 entities,” not one array both ways.</a:t>
            </a:r>
          </a:p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2181F"/>
                </a:solidFill>
                <a:latin typeface="Calibri"/>
              </a:rPr>
              <a:t>The 1.8× end-to-end win is real; a clean single-artifact-vs-single-artifact test is still to 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00">
                <a:solidFill>
                  <a:srgbClr val="7C8797"/>
                </a:solidFill>
                <a:latin typeface="Consolas"/>
              </a:rPr>
              <a:t>Scaling  ·  data size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13232"/>
            <a:ext cx="11057839" cy="12700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98303" y="329184"/>
            <a:ext cx="142646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0" i="0" spc="70">
                <a:solidFill>
                  <a:srgbClr val="DD8452"/>
                </a:solidFill>
                <a:latin typeface="Consolas"/>
              </a:rPr>
              <a:t>PROJECTED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 i="0">
                <a:solidFill>
                  <a:srgbClr val="12181F"/>
                </a:solidFill>
                <a:latin typeface="Georgia"/>
              </a:rPr>
              <a:t>Bytes per node set the rate.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11057839" cy="1828800"/>
          </a:xfrm>
          <a:prstGeom prst="rect">
            <a:avLst/>
          </a:prstGeom>
          <a:solidFill>
            <a:srgbClr val="F3F5F8"/>
          </a:solidFill>
          <a:ln w="9525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55648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2181F"/>
                </a:solidFill>
                <a:latin typeface="Consolas"/>
              </a:rPr>
              <a:t>rate  ≈  bytes  ÷  ( t_fixed  +  bytes ÷ B_eff 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2316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F5E9E"/>
                </a:solidFill>
                <a:latin typeface="Consolas"/>
              </a:rPr>
              <a:t>t_fixed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7128" y="2423160"/>
            <a:ext cx="91375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4A5563"/>
                </a:solidFill>
                <a:latin typeface="Calibri"/>
              </a:rPr>
              <a:t>Cost per node whatever its size: lookup, file open, HDF5 header, request overhead.  </a:t>
            </a:r>
            <a:r>
              <a:rPr sz="1400" b="1" i="0">
                <a:solidFill>
                  <a:srgbClr val="12181F"/>
                </a:solidFill>
                <a:latin typeface="Calibri"/>
              </a:rPr>
              <a:t>≈ 0.10 to 0.20 s,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926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F5E9E"/>
                </a:solidFill>
                <a:latin typeface="Consolas"/>
              </a:rPr>
              <a:t>B_eff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2926080"/>
            <a:ext cx="91375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4A5563"/>
                </a:solidFill>
                <a:latin typeface="Calibri"/>
              </a:rPr>
              <a:t>Rate for the bytes themselves: storage read, encode, wire. The ceiling a large array approaches.  </a:t>
            </a:r>
            <a:r>
              <a:rPr sz="1400" b="1" i="0">
                <a:solidFill>
                  <a:srgbClr val="12181F"/>
                </a:solidFill>
                <a:latin typeface="Calibri"/>
              </a:rPr>
              <a:t>Not yet measured.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611880"/>
            <a:ext cx="5391759" cy="1554480"/>
          </a:xfrm>
          <a:prstGeom prst="rect">
            <a:avLst/>
          </a:prstGeom>
          <a:solidFill>
            <a:srgbClr val="F3F5F8"/>
          </a:solidFill>
          <a:ln w="9525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758184"/>
            <a:ext cx="50259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 spc="40">
                <a:solidFill>
                  <a:srgbClr val="7C8797"/>
                </a:solidFill>
                <a:latin typeface="Consolas"/>
              </a:rPr>
              <a:t>GENERICSPIN · 10,000 ENTITIES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087368"/>
            <a:ext cx="50259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2181F"/>
                </a:solidFill>
                <a:latin typeface="Consolas"/>
              </a:rPr>
              <a:t>Array (200,)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636008"/>
            <a:ext cx="50259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2181F"/>
                </a:solidFill>
                <a:latin typeface="Calibri"/>
              </a:rPr>
              <a:t>1.6 KB/node.</a:t>
            </a:r>
            <a:r>
              <a:rPr sz="1300" b="0" i="0">
                <a:solidFill>
                  <a:srgbClr val="4A5563"/>
                </a:solidFill>
                <a:latin typeface="Calibri"/>
              </a:rPr>
              <a:t> t_fixed swamps the payload. Full traversal ≈ </a:t>
            </a:r>
            <a:r>
              <a:rPr sz="1300" b="1" i="0">
                <a:solidFill>
                  <a:srgbClr val="12181F"/>
                </a:solidFill>
                <a:latin typeface="Calibri"/>
              </a:rPr>
              <a:t>37 min.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611880"/>
            <a:ext cx="5391759" cy="1554480"/>
          </a:xfrm>
          <a:prstGeom prst="rect">
            <a:avLst/>
          </a:prstGeom>
          <a:solidFill>
            <a:srgbClr val="F3F5F8"/>
          </a:solidFill>
          <a:ln w="9525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3758184"/>
            <a:ext cx="50259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 spc="40">
                <a:solidFill>
                  <a:srgbClr val="7C8797"/>
                </a:solidFill>
                <a:latin typeface="Consolas"/>
              </a:rPr>
              <a:t>RIXS · 7 ENTITIES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4087368"/>
            <a:ext cx="50259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2181F"/>
                </a:solidFill>
                <a:latin typeface="Consolas"/>
              </a:rPr>
              <a:t>Array (651, 487)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4636008"/>
            <a:ext cx="50259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2181F"/>
                </a:solidFill>
                <a:latin typeface="Calibri"/>
              </a:rPr>
              <a:t>2.54 MB/node, 1,585× more.</a:t>
            </a:r>
            <a:r>
              <a:rPr sz="1300" b="0" i="0">
                <a:solidFill>
                  <a:srgbClr val="4A5563"/>
                </a:solidFill>
                <a:latin typeface="Calibri"/>
              </a:rPr>
              <a:t> t_fixed amortized. Only shape that nears the wire.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394960"/>
            <a:ext cx="110578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4A5563"/>
                </a:solidFill>
                <a:latin typeface="Calibri"/>
              </a:rPr>
              <a:t>Small nodes scale with array size alone. Large nodes approach </a:t>
            </a:r>
            <a:r>
              <a:rPr sz="1600" b="1" i="0">
                <a:solidFill>
                  <a:srgbClr val="12181F"/>
                </a:solidFill>
                <a:latin typeface="Consolas"/>
              </a:rPr>
              <a:t>B_eff</a:t>
            </a:r>
            <a:r>
              <a:rPr sz="1600" b="0" i="0">
                <a:solidFill>
                  <a:srgbClr val="4A5563"/>
                </a:solidFill>
                <a:latin typeface="Calibri"/>
              </a:rPr>
              <a:t>, where GB/s lives. </a:t>
            </a:r>
            <a:r>
              <a:rPr sz="1600" b="1" i="0">
                <a:solidFill>
                  <a:srgbClr val="12181F"/>
                </a:solidFill>
                <a:latin typeface="Calibri"/>
              </a:rPr>
              <a:t>Measuring B_eff locates the crossover at bytes ≈ t_fixed × B_eff.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00">
                <a:solidFill>
                  <a:srgbClr val="7C8797"/>
                </a:solidFill>
                <a:latin typeface="Consolas"/>
              </a:rPr>
              <a:t>Scaling  ·  layout  ·  not yet measured on egress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13232"/>
            <a:ext cx="11057839" cy="12700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98303" y="329184"/>
            <a:ext cx="142646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0" i="0" spc="70">
                <a:solidFill>
                  <a:srgbClr val="DD8452"/>
                </a:solidFill>
                <a:latin typeface="Consolas"/>
              </a:rPr>
              <a:t>PREDICTED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 i="0">
                <a:solidFill>
                  <a:srgbClr val="12181F"/>
                </a:solidFill>
                <a:latin typeface="Georgia"/>
              </a:rPr>
              <a:t>Layout is the biggest untested lever.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4A5563"/>
                </a:solidFill>
                <a:latin typeface="Calibri"/>
              </a:rPr>
              <a:t>It sets how many files the server opens per export, landing in </a:t>
            </a:r>
            <a:r>
              <a:rPr sz="1700" b="1" i="0">
                <a:solidFill>
                  <a:srgbClr val="12181F"/>
                </a:solidFill>
                <a:latin typeface="Consolas"/>
              </a:rPr>
              <a:t>app</a:t>
            </a:r>
            <a:r>
              <a:rPr sz="1700" b="0" i="0">
                <a:solidFill>
                  <a:srgbClr val="4A5563"/>
                </a:solidFill>
                <a:latin typeface="Calibri"/>
              </a:rPr>
              <a:t>, which is 92% of wall.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240280"/>
            <a:ext cx="3503066" cy="1417320"/>
          </a:xfrm>
          <a:prstGeom prst="rect">
            <a:avLst/>
          </a:prstGeom>
          <a:solidFill>
            <a:srgbClr val="F3F5F8"/>
          </a:solidFill>
          <a:ln w="9525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86584"/>
            <a:ext cx="31738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40">
                <a:solidFill>
                  <a:srgbClr val="B4552D"/>
                </a:solidFill>
                <a:latin typeface="Consolas"/>
              </a:rPr>
              <a:t>per_entity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07208"/>
            <a:ext cx="317388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A5563"/>
                </a:solidFill>
                <a:latin typeface="Calibri"/>
              </a:rPr>
              <a:t>One file per entity → </a:t>
            </a:r>
            <a:r>
              <a:rPr sz="1300" b="1" i="0">
                <a:solidFill>
                  <a:srgbClr val="12181F"/>
                </a:solidFill>
                <a:latin typeface="Calibri"/>
              </a:rPr>
              <a:t>N opens</a:t>
            </a:r>
            <a:r>
              <a:rPr sz="1300" b="0" i="0">
                <a:solidFill>
                  <a:srgbClr val="4A5563"/>
                </a:solidFill>
                <a:latin typeface="Calibri"/>
              </a:rPr>
              <a:t>, no cache reuse. Worst.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4314" y="2240280"/>
            <a:ext cx="3503066" cy="1417320"/>
          </a:xfrm>
          <a:prstGeom prst="rect">
            <a:avLst/>
          </a:prstGeom>
          <a:solidFill>
            <a:srgbClr val="F3F5F8"/>
          </a:solidFill>
          <a:ln w="9525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8906" y="2386584"/>
            <a:ext cx="31738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40">
                <a:solidFill>
                  <a:srgbClr val="12181F"/>
                </a:solidFill>
                <a:latin typeface="Consolas"/>
              </a:rPr>
              <a:t>grouped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8906" y="2807208"/>
            <a:ext cx="317388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A5563"/>
                </a:solidFill>
                <a:latin typeface="Calibri"/>
              </a:rPr>
              <a:t>One file, one group each → </a:t>
            </a:r>
            <a:r>
              <a:rPr sz="1300" b="1" i="0">
                <a:solidFill>
                  <a:srgbClr val="12181F"/>
                </a:solidFill>
                <a:latin typeface="Calibri"/>
              </a:rPr>
              <a:t>one open</a:t>
            </a:r>
            <a:r>
              <a:rPr sz="1300" b="0" i="0">
                <a:solidFill>
                  <a:srgbClr val="4A5563"/>
                </a:solidFill>
                <a:latin typeface="Calibri"/>
              </a:rPr>
              <a:t>, cache-warm.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1700" y="2240280"/>
            <a:ext cx="3503066" cy="1417320"/>
          </a:xfrm>
          <a:prstGeom prst="rect">
            <a:avLst/>
          </a:prstGeom>
          <a:solidFill>
            <a:srgbClr val="F3F5F8"/>
          </a:solidFill>
          <a:ln w="9525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6292" y="2386584"/>
            <a:ext cx="31738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40">
                <a:solidFill>
                  <a:srgbClr val="12181F"/>
                </a:solidFill>
                <a:latin typeface="Consolas"/>
              </a:rPr>
              <a:t>batched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6292" y="2807208"/>
            <a:ext cx="317388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A5563"/>
                </a:solidFill>
                <a:latin typeface="Calibri"/>
              </a:rPr>
              <a:t>Stacked on axis-0 → best locality </a:t>
            </a:r>
            <a:r>
              <a:rPr sz="1300" b="1" i="0">
                <a:solidFill>
                  <a:srgbClr val="12181F"/>
                </a:solidFill>
                <a:latin typeface="Calibri"/>
              </a:rPr>
              <a:t>if</a:t>
            </a:r>
            <a:r>
              <a:rPr sz="1300" b="0" i="0">
                <a:solidFill>
                  <a:srgbClr val="4A5563"/>
                </a:solidFill>
                <a:latin typeface="Calibri"/>
              </a:rPr>
              <a:t> the adapter slices lazily.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886200"/>
            <a:ext cx="5391759" cy="2331720"/>
          </a:xfrm>
          <a:prstGeom prst="rect">
            <a:avLst/>
          </a:prstGeom>
          <a:solidFill>
            <a:srgbClr val="F3F5F8"/>
          </a:solidFill>
          <a:ln w="9525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4032504"/>
            <a:ext cx="50259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 spc="60">
                <a:solidFill>
                  <a:srgbClr val="7C8797"/>
                </a:solidFill>
                <a:latin typeface="Consolas"/>
              </a:rPr>
              <a:t>NEXT, IN ORDER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434840"/>
            <a:ext cx="502599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i="0">
                <a:solidFill>
                  <a:srgbClr val="2F5E9E"/>
                </a:solidFill>
                <a:latin typeface="Consolas"/>
              </a:rPr>
              <a:t>1.  </a:t>
            </a:r>
            <a:r>
              <a:rPr sz="1400" b="0" i="0">
                <a:solidFill>
                  <a:srgbClr val="4A5563"/>
                </a:solidFill>
                <a:latin typeface="Calibri"/>
              </a:rPr>
              <a:t>Measure </a:t>
            </a:r>
            <a:r>
              <a:rPr sz="1400" b="1" i="0">
                <a:solidFill>
                  <a:srgbClr val="12181F"/>
                </a:solidFill>
                <a:latin typeface="Consolas"/>
              </a:rPr>
              <a:t>B_eff</a:t>
            </a:r>
            <a:r>
              <a:rPr sz="1400" b="0" i="0">
                <a:solidFill>
                  <a:srgbClr val="4A5563"/>
                </a:solidFill>
                <a:latin typeface="Calibri"/>
              </a:rPr>
              <a:t>: one large array read</a:t>
            </a:r>
          </a:p>
          <a:p>
            <a:pPr algn="l">
              <a:lnSpc>
                <a:spcPct val="150000"/>
              </a:lnSpc>
            </a:pPr>
            <a:r>
              <a:rPr sz="1400" b="1" i="0">
                <a:solidFill>
                  <a:srgbClr val="2F5E9E"/>
                </a:solidFill>
                <a:latin typeface="Consolas"/>
              </a:rPr>
              <a:t>2.  </a:t>
            </a:r>
            <a:r>
              <a:rPr sz="1400" b="0" i="0">
                <a:solidFill>
                  <a:srgbClr val="4A5563"/>
                </a:solidFill>
                <a:latin typeface="Calibri"/>
              </a:rPr>
              <a:t>Sweep </a:t>
            </a:r>
            <a:r>
              <a:rPr sz="1400" b="1" i="0">
                <a:solidFill>
                  <a:srgbClr val="12181F"/>
                </a:solidFill>
                <a:latin typeface="Calibri"/>
              </a:rPr>
              <a:t>layout</a:t>
            </a:r>
            <a:r>
              <a:rPr sz="1400" b="0" i="0">
                <a:solidFill>
                  <a:srgbClr val="4A5563"/>
                </a:solidFill>
                <a:latin typeface="Calibri"/>
              </a:rPr>
              <a:t> on egress: targets 92% of cost</a:t>
            </a:r>
          </a:p>
          <a:p>
            <a:pPr algn="l">
              <a:lnSpc>
                <a:spcPct val="150000"/>
              </a:lnSpc>
            </a:pPr>
            <a:r>
              <a:rPr sz="1400" b="1" i="0">
                <a:solidFill>
                  <a:srgbClr val="2F5E9E"/>
                </a:solidFill>
                <a:latin typeface="Consolas"/>
              </a:rPr>
              <a:t>3.  </a:t>
            </a:r>
            <a:r>
              <a:rPr sz="1400" b="0" i="0">
                <a:solidFill>
                  <a:srgbClr val="4A5563"/>
                </a:solidFill>
                <a:latin typeface="Calibri"/>
              </a:rPr>
              <a:t>Push </a:t>
            </a:r>
            <a:r>
              <a:rPr sz="1400" b="1" i="0">
                <a:solidFill>
                  <a:srgbClr val="12181F"/>
                </a:solidFill>
                <a:latin typeface="Calibri"/>
              </a:rPr>
              <a:t>concurrency</a:t>
            </a:r>
            <a:r>
              <a:rPr sz="1400" b="0" i="0">
                <a:solidFill>
                  <a:srgbClr val="4A5563"/>
                </a:solidFill>
                <a:latin typeface="Calibri"/>
              </a:rPr>
              <a:t>: one stream is BDP-capped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3007" y="3886200"/>
            <a:ext cx="5391759" cy="2331720"/>
          </a:xfrm>
          <a:prstGeom prst="rect">
            <a:avLst/>
          </a:prstGeom>
          <a:solidFill>
            <a:srgbClr val="F3F5F8"/>
          </a:solidFill>
          <a:ln w="9525">
            <a:solidFill>
              <a:srgbClr val="D6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5887" y="4032504"/>
            <a:ext cx="50259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 spc="60">
                <a:solidFill>
                  <a:srgbClr val="7C8797"/>
                </a:solidFill>
                <a:latin typeface="Consolas"/>
              </a:rPr>
              <a:t>FOR THE DATA-MANAGEMENT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5887" y="4434840"/>
            <a:ext cx="502599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12181F"/>
                </a:solidFill>
                <a:latin typeface="Calibri"/>
              </a:rPr>
              <a:t>Both numbers are right.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A5563"/>
                </a:solidFill>
                <a:latin typeface="Calibri"/>
              </a:rPr>
              <a:t>GB/s is </a:t>
            </a:r>
            <a:r>
              <a:rPr sz="1400" b="1" i="0">
                <a:solidFill>
                  <a:srgbClr val="12181F"/>
                </a:solidFill>
                <a:latin typeface="Calibri"/>
              </a:rPr>
              <a:t>aggregate, co-located, large arrays</a:t>
            </a:r>
            <a:r>
              <a:rPr sz="1400" b="0" i="0">
                <a:solidFill>
                  <a:srgbClr val="4A5563"/>
                </a:solidFill>
                <a:latin typeface="Calibri"/>
              </a:rPr>
              <a:t>: a B_eff number.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A5563"/>
                </a:solidFill>
                <a:latin typeface="Calibri"/>
              </a:rPr>
              <a:t>This is </a:t>
            </a:r>
            <a:r>
              <a:rPr sz="1400" b="1" i="0">
                <a:solidFill>
                  <a:srgbClr val="12181F"/>
                </a:solidFill>
                <a:latin typeface="Calibri"/>
              </a:rPr>
              <a:t>one stream, small arrays, over a WAN</a:t>
            </a:r>
            <a:r>
              <a:rPr sz="1400" b="0" i="0">
                <a:solidFill>
                  <a:srgbClr val="4A5563"/>
                </a:solidFill>
                <a:latin typeface="Calibri"/>
              </a:rPr>
              <a:t>: a bytes ÷ t_fixed number.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